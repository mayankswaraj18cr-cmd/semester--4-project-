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640080"/>
            <a:ext cx="82296" cy="82296"/>
          </a:xfrm>
          <a:prstGeom prst="ellipse">
            <a:avLst/>
          </a:prstGeom>
          <a:solidFill>
            <a:srgbClr val="C23A57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640080"/>
            <a:ext cx="82296" cy="82296"/>
          </a:xfrm>
          <a:prstGeom prst="ellipse">
            <a:avLst/>
          </a:prstGeom>
          <a:solidFill>
            <a:srgbClr val="C23A57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0" y="640080"/>
            <a:ext cx="82296" cy="82296"/>
          </a:xfrm>
          <a:prstGeom prst="ellipse">
            <a:avLst/>
          </a:prstGeom>
          <a:solidFill>
            <a:srgbClr val="C23A57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0" y="1463040"/>
            <a:ext cx="82296" cy="82296"/>
          </a:xfrm>
          <a:prstGeom prst="ellipse">
            <a:avLst/>
          </a:prstGeom>
          <a:solidFill>
            <a:srgbClr val="C23A57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0" y="1463040"/>
            <a:ext cx="82296" cy="82296"/>
          </a:xfrm>
          <a:prstGeom prst="ellipse">
            <a:avLst/>
          </a:prstGeom>
          <a:solidFill>
            <a:srgbClr val="C23A57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0" y="1463040"/>
            <a:ext cx="82296" cy="82296"/>
          </a:xfrm>
          <a:prstGeom prst="ellipse">
            <a:avLst/>
          </a:prstGeom>
          <a:solidFill>
            <a:srgbClr val="C23A57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0" y="2286000"/>
            <a:ext cx="82296" cy="82296"/>
          </a:xfrm>
          <a:prstGeom prst="ellipse">
            <a:avLst/>
          </a:prstGeom>
          <a:solidFill>
            <a:srgbClr val="C23A57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0" y="2286000"/>
            <a:ext cx="82296" cy="82296"/>
          </a:xfrm>
          <a:prstGeom prst="ellipse">
            <a:avLst/>
          </a:prstGeom>
          <a:solidFill>
            <a:srgbClr val="C23A57"/>
          </a:solidFill>
          <a:ln/>
        </p:spPr>
      </p:sp>
      <p:sp>
        <p:nvSpPr>
          <p:cNvPr id="11" name="Shape 9"/>
          <p:cNvSpPr/>
          <p:nvPr/>
        </p:nvSpPr>
        <p:spPr>
          <a:xfrm>
            <a:off x="10424160" y="2286000"/>
            <a:ext cx="82296" cy="82296"/>
          </a:xfrm>
          <a:prstGeom prst="ellipse">
            <a:avLst/>
          </a:prstGeom>
          <a:solidFill>
            <a:srgbClr val="C23A5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965960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RESOURCE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22960" y="2542032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DATABASE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41248" y="3337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2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Relational Database System Built with SQL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41248" y="3913632"/>
            <a:ext cx="2926080" cy="0"/>
          </a:xfrm>
          <a:prstGeom prst="line">
            <a:avLst/>
          </a:prstGeom>
          <a:noFill/>
          <a:ln w="19050">
            <a:solidFill>
              <a:srgbClr val="C23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0965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Management Systems (DBMS)  •  Database Design &amp; SQL Project  •  Intermediate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5989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GSSIPU  •  Semester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6309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Mayank Swaraj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&amp; Why a DBMS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and implement a hospital database managing patients, doctors, rooms, appointments, and admissions using a relational database and SQL.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A DATABASE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6492240" cy="502920"/>
          </a:xfrm>
          <a:prstGeom prst="rect">
            <a:avLst>
              <a:gd name="adj" fmla="val 10909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718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9718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records lost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6492240" cy="502920"/>
          </a:xfrm>
          <a:prstGeom prst="rect">
            <a:avLst>
              <a:gd name="adj" fmla="val 10909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5661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5661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Duplicate data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6492240" cy="502920"/>
          </a:xfrm>
          <a:prstGeom prst="rect">
            <a:avLst>
              <a:gd name="adj" fmla="val 10909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1605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41605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retrieval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6492240" cy="502920"/>
          </a:xfrm>
          <a:prstGeom prst="rect">
            <a:avLst>
              <a:gd name="adj" fmla="val 10909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7548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7548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Poor management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60920" y="1417320"/>
            <a:ext cx="4251960" cy="4709160"/>
          </a:xfrm>
          <a:prstGeom prst="rect">
            <a:avLst>
              <a:gd name="adj" fmla="val 1720"/>
            </a:avLst>
          </a:prstGeom>
          <a:solidFill>
            <a:srgbClr val="162C56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DBMS SOLVES THIS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Tables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80960" y="2670048"/>
            <a:ext cx="82296" cy="82296"/>
          </a:xfrm>
          <a:prstGeom prst="ellipse">
            <a:avLst/>
          </a:prstGeom>
          <a:solidFill>
            <a:srgbClr val="2FA88A"/>
          </a:solidFill>
          <a:ln/>
        </p:spPr>
      </p:sp>
      <p:sp>
        <p:nvSpPr>
          <p:cNvPr id="22" name="Text 20"/>
          <p:cNvSpPr/>
          <p:nvPr/>
        </p:nvSpPr>
        <p:spPr>
          <a:xfrm>
            <a:off x="7909560" y="2560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Organizes information into related tables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80960" y="3291840"/>
            <a:ext cx="82296" cy="82296"/>
          </a:xfrm>
          <a:prstGeom prst="ellipse">
            <a:avLst/>
          </a:prstGeom>
          <a:solidFill>
            <a:srgbClr val="2FA88A"/>
          </a:solidFill>
          <a:ln/>
        </p:spPr>
      </p:sp>
      <p:sp>
        <p:nvSpPr>
          <p:cNvPr id="24" name="Text 22"/>
          <p:cNvSpPr/>
          <p:nvPr/>
        </p:nvSpPr>
        <p:spPr>
          <a:xfrm>
            <a:off x="7909560" y="318211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Enforces integrity via keys &amp; constraints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80960" y="3913632"/>
            <a:ext cx="82296" cy="82296"/>
          </a:xfrm>
          <a:prstGeom prst="ellipse">
            <a:avLst/>
          </a:prstGeom>
          <a:solidFill>
            <a:srgbClr val="2FA88A"/>
          </a:solidFill>
          <a:ln/>
        </p:spPr>
      </p:sp>
      <p:sp>
        <p:nvSpPr>
          <p:cNvPr id="26" name="Text 24"/>
          <p:cNvSpPr/>
          <p:nvPr/>
        </p:nvSpPr>
        <p:spPr>
          <a:xfrm>
            <a:off x="7909560" y="380390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Enables fast, reliable retrieval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80960" y="4535424"/>
            <a:ext cx="82296" cy="82296"/>
          </a:xfrm>
          <a:prstGeom prst="ellipse">
            <a:avLst/>
          </a:prstGeom>
          <a:solidFill>
            <a:srgbClr val="2FA88A"/>
          </a:solidFill>
          <a:ln/>
        </p:spPr>
      </p:sp>
      <p:sp>
        <p:nvSpPr>
          <p:cNvPr id="28" name="Text 26"/>
          <p:cNvSpPr/>
          <p:nvPr/>
        </p:nvSpPr>
        <p:spPr>
          <a:xfrm>
            <a:off x="7909560" y="442569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Supports multi-table JOIN queries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80960" y="5257800"/>
            <a:ext cx="3566160" cy="0"/>
          </a:xfrm>
          <a:prstGeom prst="line">
            <a:avLst/>
          </a:prstGeom>
          <a:noFill/>
          <a:ln w="12700">
            <a:solidFill>
              <a:srgbClr val="3A4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5440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core entities: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80960" y="5715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· Doctor · Room · Appointment · Admission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Resource Management  •  Database Management Systems  •  GSSIPU Semester 4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 Relationship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0" y="1554480"/>
            <a:ext cx="2926080" cy="658368"/>
          </a:xfrm>
          <a:prstGeom prst="rect">
            <a:avLst>
              <a:gd name="adj" fmla="val 11111"/>
            </a:avLst>
          </a:prstGeom>
          <a:solidFill>
            <a:srgbClr val="FBE7EB"/>
          </a:solidFill>
          <a:ln w="15240">
            <a:solidFill>
              <a:srgbClr val="162C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55448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91840" y="2212848"/>
            <a:ext cx="0" cy="320040"/>
          </a:xfrm>
          <a:prstGeom prst="line">
            <a:avLst/>
          </a:prstGeom>
          <a:noFill/>
          <a:ln w="19050">
            <a:solidFill>
              <a:srgbClr val="C23A5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828800" y="2532888"/>
            <a:ext cx="2926080" cy="658368"/>
          </a:xfrm>
          <a:prstGeom prst="rect">
            <a:avLst>
              <a:gd name="adj" fmla="val 11111"/>
            </a:avLst>
          </a:prstGeom>
          <a:solidFill>
            <a:srgbClr val="FBE7EB"/>
          </a:solidFill>
          <a:ln w="15240">
            <a:solidFill>
              <a:srgbClr val="162C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53288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APPOINTMENT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3191256"/>
            <a:ext cx="0" cy="320040"/>
          </a:xfrm>
          <a:prstGeom prst="line">
            <a:avLst/>
          </a:prstGeom>
          <a:noFill/>
          <a:ln w="19050">
            <a:solidFill>
              <a:srgbClr val="C23A5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28800" y="3511296"/>
            <a:ext cx="2926080" cy="658368"/>
          </a:xfrm>
          <a:prstGeom prst="rect">
            <a:avLst>
              <a:gd name="adj" fmla="val 11111"/>
            </a:avLst>
          </a:prstGeom>
          <a:solidFill>
            <a:srgbClr val="FBE7EB"/>
          </a:solidFill>
          <a:ln w="15240">
            <a:solidFill>
              <a:srgbClr val="162C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3511296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DOCTOR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91840" y="4169664"/>
            <a:ext cx="0" cy="320040"/>
          </a:xfrm>
          <a:prstGeom prst="line">
            <a:avLst/>
          </a:prstGeom>
          <a:noFill/>
          <a:ln w="19050">
            <a:solidFill>
              <a:srgbClr val="C23A5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828800" y="4489704"/>
            <a:ext cx="2926080" cy="658368"/>
          </a:xfrm>
          <a:prstGeom prst="rect">
            <a:avLst>
              <a:gd name="adj" fmla="val 11111"/>
            </a:avLst>
          </a:prstGeom>
          <a:solidFill>
            <a:srgbClr val="FBE7EB"/>
          </a:solidFill>
          <a:ln w="15240">
            <a:solidFill>
              <a:srgbClr val="162C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4489704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ADMISSION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91840" y="5148072"/>
            <a:ext cx="0" cy="320040"/>
          </a:xfrm>
          <a:prstGeom prst="line">
            <a:avLst/>
          </a:prstGeom>
          <a:noFill/>
          <a:ln w="19050">
            <a:solidFill>
              <a:srgbClr val="C23A5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828800" y="5468112"/>
            <a:ext cx="2926080" cy="658368"/>
          </a:xfrm>
          <a:prstGeom prst="rect">
            <a:avLst>
              <a:gd name="adj" fmla="val 11111"/>
            </a:avLst>
          </a:prstGeom>
          <a:solidFill>
            <a:srgbClr val="FBE7EB"/>
          </a:solidFill>
          <a:ln w="15240">
            <a:solidFill>
              <a:srgbClr val="162C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546811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connects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75120" y="2148840"/>
            <a:ext cx="4937760" cy="868680"/>
          </a:xfrm>
          <a:prstGeom prst="rect">
            <a:avLst>
              <a:gd name="adj" fmla="val 7368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22402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3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→ Appointment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03720" y="25603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patient books one or more appointments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3172968"/>
            <a:ext cx="4937760" cy="868680"/>
          </a:xfrm>
          <a:prstGeom prst="rect">
            <a:avLst>
              <a:gd name="adj" fmla="val 7368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32644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3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Appointment → Doctor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03720" y="358444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appointment is conducted by a specific doctor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4197096"/>
            <a:ext cx="4937760" cy="868680"/>
          </a:xfrm>
          <a:prstGeom prst="rect">
            <a:avLst>
              <a:gd name="adj" fmla="val 7368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428853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3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→ Admission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03720" y="460857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patient may be admitted for hospitalization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0" y="5221224"/>
            <a:ext cx="4937760" cy="868680"/>
          </a:xfrm>
          <a:prstGeom prst="rect">
            <a:avLst>
              <a:gd name="adj" fmla="val 7368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531266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3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Admission → Room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903720" y="563270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admission is assigned a specific room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Resource Management  •  Database Management Systems  •  GSSIPU Semester 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Tables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solidFill>
            <a:srgbClr val="162C5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Key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 Fields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64240" cy="658368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201168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23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PatientID (PK)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0" y="201168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Name, Age, Gender, Phone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11064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7004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267004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23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DoctorID (PK)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0" y="2670048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Name, Specialization, Experience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28416"/>
            <a:ext cx="11064240" cy="658368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32841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3328416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23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RoomID (PK)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0" y="3328416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RoomType, Status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86784"/>
            <a:ext cx="11064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9867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Appointment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08960" y="3986784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23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AppointmentID (PK)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43600" y="3986784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PatientID (FK), DoctorID (FK), Date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645152"/>
            <a:ext cx="11064240" cy="658368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64515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Admission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108960" y="464515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23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AdmissionID (PK)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0" y="4645152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PatientID (FK), RoomID (FK), AdmissionDate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577840"/>
            <a:ext cx="11064240" cy="822960"/>
          </a:xfrm>
          <a:prstGeom prst="rect">
            <a:avLst>
              <a:gd name="adj" fmla="val 6667"/>
            </a:avLst>
          </a:prstGeom>
          <a:solidFill>
            <a:srgbClr val="FBE7EB"/>
          </a:solidFill>
          <a:ln w="9525">
            <a:solidFill>
              <a:srgbClr val="C23A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PK = Primary Key (uniquely identifies a row)   •   FK = Foreign Key (references another table's primary key, enforcing referential integrity)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Resource Management  •  Database Management Systems  •  GSSIPU Semester 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— Foreign Keys &amp; JOIN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766560" cy="4709160"/>
          </a:xfrm>
          <a:prstGeom prst="rect">
            <a:avLst>
              <a:gd name="adj" fmla="val 1359"/>
            </a:avLst>
          </a:prstGeom>
          <a:solidFill>
            <a:srgbClr val="0D1B3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6309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Appointment (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56816"/>
            <a:ext cx="6309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AppointmentID INT PRIMARY KEY,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21992"/>
            <a:ext cx="6309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PatientID INT,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87168"/>
            <a:ext cx="6309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DoctorID INT,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752344"/>
            <a:ext cx="6309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KEY(PatientID)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6309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Patient(PatientID),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282696"/>
            <a:ext cx="6309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KEY(DoctorID)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547872"/>
            <a:ext cx="6309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Doctor(DoctorID)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813048"/>
            <a:ext cx="6309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078224"/>
            <a:ext cx="6309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343400"/>
            <a:ext cx="6309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Patient.Name, Doctor.Name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608576"/>
            <a:ext cx="6309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Appointment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873752"/>
            <a:ext cx="6309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Patient 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5138928"/>
            <a:ext cx="6309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Appointment.PatientID=Patient.PatientID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404104"/>
            <a:ext cx="6309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Doctor 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669280"/>
            <a:ext cx="6309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Appointment.DoctorID=Doctor.DoctorID;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43800" y="1463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works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543800" y="1975104"/>
            <a:ext cx="91440" cy="91440"/>
          </a:xfrm>
          <a:prstGeom prst="ellipse">
            <a:avLst/>
          </a:prstGeom>
          <a:solidFill>
            <a:srgbClr val="C23A5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18745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 KEY constraints stop an appointment from referencing a patient or doctor that doesn't exist.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43800" y="2935224"/>
            <a:ext cx="91440" cy="91440"/>
          </a:xfrm>
          <a:prstGeom prst="ellipse">
            <a:avLst/>
          </a:prstGeom>
          <a:solidFill>
            <a:srgbClr val="C23A57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28346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combines rows across Appointment, Patient, and Doctor into one result.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43800" y="3895344"/>
            <a:ext cx="91440" cy="91440"/>
          </a:xfrm>
          <a:prstGeom prst="ellipse">
            <a:avLst/>
          </a:prstGeom>
          <a:solidFill>
            <a:srgbClr val="C23A57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37947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JOIN ON clause matches rows using the shared key column.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43800" y="4855464"/>
            <a:ext cx="91440" cy="91440"/>
          </a:xfrm>
          <a:prstGeom prst="ellipse">
            <a:avLst/>
          </a:prstGeom>
          <a:solidFill>
            <a:srgbClr val="C23A57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0" y="475488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 reconstructs the full picture: which patient sees which doctor.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Resource Management  •  Database Management Systems  •  GSSIPU Semester 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&amp; Normalization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WORKFLOW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03520" cy="566928"/>
          </a:xfrm>
          <a:prstGeom prst="rect">
            <a:avLst>
              <a:gd name="adj" fmla="val 9677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2880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Registration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5303520" cy="566928"/>
          </a:xfrm>
          <a:prstGeom prst="rect">
            <a:avLst>
              <a:gd name="adj" fmla="val 9677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487168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48716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Doctor Assignment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45536"/>
            <a:ext cx="5303520" cy="566928"/>
          </a:xfrm>
          <a:prstGeom prst="rect">
            <a:avLst>
              <a:gd name="adj" fmla="val 9677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145536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314553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Appointment Booking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03904"/>
            <a:ext cx="5303520" cy="566928"/>
          </a:xfrm>
          <a:prstGeom prst="rect">
            <a:avLst>
              <a:gd name="adj" fmla="val 9677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803904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80390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Admission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462272"/>
            <a:ext cx="5303520" cy="566928"/>
          </a:xfrm>
          <a:prstGeom prst="rect">
            <a:avLst>
              <a:gd name="adj" fmla="val 9677"/>
            </a:avLst>
          </a:prstGeom>
          <a:solidFill>
            <a:srgbClr val="162C56"/>
          </a:solidFill>
          <a:ln w="9525">
            <a:solidFill>
              <a:srgbClr val="162C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462272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446227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 Allocation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6364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NORMALIZATION APPLIED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1828800"/>
            <a:ext cx="5349240" cy="960120"/>
          </a:xfrm>
          <a:prstGeom prst="rect">
            <a:avLst>
              <a:gd name="adj" fmla="val 6667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93852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1NF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23042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repeating groups — each field holds one atomic value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2926080"/>
            <a:ext cx="5349240" cy="960120"/>
          </a:xfrm>
          <a:prstGeom prst="rect">
            <a:avLst>
              <a:gd name="adj" fmla="val 6667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0358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2NF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2240" y="340156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partial dependency — fields depend on the whole key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4023360"/>
            <a:ext cx="5349240" cy="960120"/>
          </a:xfrm>
          <a:prstGeom prst="rect">
            <a:avLst>
              <a:gd name="adj" fmla="val 6667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13308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3NF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92240" y="449884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transitive dependency — fields depend only on the key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Resource Management  •  Database Management Systems  •  GSSIPU Semester 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Outcome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1463040"/>
          </a:xfrm>
          <a:prstGeom prst="rect">
            <a:avLst>
              <a:gd name="adj" fmla="val 5000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Hospital Resource Management Database was successfully designed and implemented, managing patient records, doctor information, room allocation, appointments, and admissions through structured relational tables and SQL queries.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986784"/>
            <a:ext cx="91440" cy="91440"/>
          </a:xfrm>
          <a:prstGeom prst="ellipse">
            <a:avLst/>
          </a:prstGeom>
          <a:solidFill>
            <a:srgbClr val="C23A5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87705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Relational Databases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70832"/>
            <a:ext cx="91440" cy="91440"/>
          </a:xfrm>
          <a:prstGeom prst="ellipse">
            <a:avLst/>
          </a:prstGeom>
          <a:solidFill>
            <a:srgbClr val="C23A5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26110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&amp; Foreign Keys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91440" cy="91440"/>
          </a:xfrm>
          <a:prstGeom prst="ellipse">
            <a:avLst/>
          </a:prstGeom>
          <a:solidFill>
            <a:srgbClr val="C23A5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6451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Queries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38928"/>
            <a:ext cx="91440" cy="91440"/>
          </a:xfrm>
          <a:prstGeom prst="ellipse">
            <a:avLst/>
          </a:prstGeom>
          <a:solidFill>
            <a:srgbClr val="C23A5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029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Operations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522976"/>
            <a:ext cx="91440" cy="91440"/>
          </a:xfrm>
          <a:prstGeom prst="ellipse">
            <a:avLst/>
          </a:prstGeom>
          <a:solidFill>
            <a:srgbClr val="C23A5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413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3A4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Resource Management Database System — DBMS Mini Project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Mayank Swaraj  |  GSSIPU Semester 4  |  github.com/mayankswaraj18cr-cmd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2026-08-18T08:56:17Z</dcterms:created>
  <dcterms:modified xsi:type="dcterms:W3CDTF">2026-08-18T08:56:17Z</dcterms:modified>
</cp:coreProperties>
</file>